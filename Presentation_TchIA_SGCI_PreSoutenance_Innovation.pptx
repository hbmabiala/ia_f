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E9041E"/>
                </a:solidFill>
              </a:defRPr>
            </a:pPr>
            <a:r>
              <a:t>SOCIÉTÉ GÉNÉRALE CÔTE D'IVOIRE (SGCI)</a:t>
            </a:r>
          </a:p>
          <a:p>
            <a:pPr>
              <a:spcAft>
                <a:spcPts val="1500"/>
              </a:spcAft>
              <a:defRPr sz="2800" b="1">
                <a:solidFill>
                  <a:srgbClr val="FFFFFF"/>
                </a:solidFill>
              </a:defRPr>
            </a:pPr>
            <a:r>
              <a:t>T-chIA : Plateforme Intelligente de Formation Continue par IA Générative &amp; RAG Multimodal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Pré-soutenance PFE &amp; Pitch d'Innovation Stratégique pour la Direction Innovation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Candidat : MABIALA Bergin — Master 2 Data Science, Big Data &amp; IA</a:t>
            </a:r>
            <a:br/>
            <a:r>
              <a:t>• Période de stage : 15 Juillet – 20 Novembre 2026</a:t>
            </a:r>
            <a:br/>
            <a:r>
              <a:t>• Structure d'accueil : SGCI Academy &amp; Direction des Ressources Humaines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1. Contexte &amp; Problématique Métier Bancaire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Du E-learning traditionnel passif à la nécessité d'un apprentissage augmenté et auditatif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E9041E"/>
                </a:solidFill>
              </a:defRPr>
            </a:pPr>
            <a:r>
              <a:t>❌ Les Défis du Mode Traditionnel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Délais de conception extrêmement longs : 3 semaines en moyenne par parcours de formation pour les équipes RH.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Dépendance forte aux experts métiers : Indisponibilité récurrente des cadres bancaires pour animer les sessions présentiel.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Coûts logistiques &amp; opérationnels élevés : Immobilisation des agents du réseau d'agences et frais d'organisation.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Passivité de l'apprentissage : Diaporamas statiques, absence d'interactivité vocale et de soutien personnalisé.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Risque de non-conformité bancaire : Difficulté de suivi du respect de l'échéance stricte de 10 jours ouvrés pour les formations obligatoires (LAB/FT, secret bancaire).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🎯 La Question de Recherche &amp; Solution T-chIA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Question Centrale : Comment automatiser et personnaliser la formation bancaire par l'IA Générative tout en garantissant 0% d'hallucination et une conformité réglementaire totale ?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Réponse apportée par T-chIA 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Ingestion documentaire automatique (Word, PDF, Procédures SGCI).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Génération de supports normés SGCI (PPTX/PDF) &amp; audio Edge-TTS en &lt; 2 minutes.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Tuteur pédagogique IA interactif fondé sur le RAG bancaire ChromaDB + Gemini 2.5.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Moteur de conformité calculant la limite stricte de 10 jours ouvrés ivoiriens.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2. État de l'Art &amp; Positionnement Technologique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L'évolution des Systèmes Tuteurs Intelligents vers le Generative-ITS (G-ITS)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1️⃣ Évolution des Systèmes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Génération 1 (E-learning) : Parcours séquentiels identiques pour tous, contenus rigides.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Génération 2 (LMS Adaptatif) : Arbres de décision, règles précalculées.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Génération 3 (Tuteur IA / G-ITS) : Inférence en langage naturel, contextualisation dynamique par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2️⃣ Moteur LLM &amp; RAG Vectoriel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Google Gemini 2.5 Flash : Modèle multimodal rapide, haute fidélité et fenêtre contextuelle étendue.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ChromaDB Vector Store : Base vectorielle embarquée haute performance avec embeddings `text-embedding-004` (768 dimensions).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Stratégie de Chunking : Decoupage sémantique 600-800 caractères avec chevauchement 100 caractères.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5661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3️⃣ Multimédia &amp; Serveur App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Edge-TTS Neurale : Synthèse vocale fluide du tuteur T-chIA avec génération de timestamps.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Flask / FastAPI Server : Architecture micro-services Python, REST API &amp; WebSocket Realtime.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Single Page Application (SPA) : Frontend Vanilla JS modulaire (17 modules), réactif et conforme à la charte SGCI.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3. Architecture Systémique End-to-End (Vue 360°)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Du document brut à l'expérience d'apprentissage augmentée et certifiante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🏗️ Pipeline End-to-End T-chIA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1. INGESTION &amp; PIPELINE DOCUMENTAIRE MULTIMODAL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Upload par le formateur RH de procédures bancaires (PDF, DOCX) ou sujet brut.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Découpage sémantique &amp; Vectorisation ChromaDB (`ai_formation_courses`).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Production automatique des supports corporate normés SGCI (PPTX via python-pptx / PDF via ReportLab).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Génération de la piste vocale `narration.mp3` et des quiz certifiants avec justifications.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2. DIFFUSION INTERACTIVE MULTI-MODES &amp; PERSISTANCE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Mode Présentation : Support visuel synchronisé avec la voix du tuteur T-chIA.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Mode Live IA : Session questions/réponses interactive basée sur le RAG bancaire.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Mécanisme de persistance F5 : Restauration immédiate de l'état de l'apprenant sans perte de progression.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3. COCKPIT DE PILOTAGE &amp; CONFORMITÉ RH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Tracking en temps réel via Pings Heartbeat (45s) et table SQLite `database.db`.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4. Moteurs Métier Intelligents &amp; Conformité Bancaire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Calculateur d'échéances sur jours ouvrés et évaluation composite certifiante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📅 Moteur des 10 Jours Ouvrés (Côte d'Ivoire)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Exigence Métier : Toute formation attribuée d'office doit être achevée dans un délai strict de 10 jours ouvrés.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Algorithme de Calcul Bancaire CI 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Exclusion des samedis et dimanches.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Exclusion dynamique des jours fériés légaux en Côte d'Ivoire (1er Janvier, Fête du Travail, 7 Août, Fête de la Paix 15 Nov, Noël, fêtes religieuses).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Transparence &amp; Alertes : Badge visuel dynamique ('J-3 restants', 'En retard') et notifications automatiques dans le cockpit RH.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Traçabilité : Historisation des assignations et des échéances.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🎓 Évaluation Composite Certifiante (70 / 30)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Double Épreuve pour les Formations Assignées 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Épreuve Écrite (70% de la note) : QCM dynamique de 15 questions max générées à partir du corpus RAG.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Épreuve Orale / Soutenance (30% de la note) : Le collaborateur répond à l'oral ou par texte argumenté à une mise en situation métier.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Évaluation par IA Juge : Diagnostic automatique argumenté par Gemini 2.5 sur la pertinence et la maîtrise conceptuelle.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Seuil de Certification : Seuil minimal de 70% requis pour valider le certificat officiel SGCI.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5. Audit &amp; Métriques de Validation Technique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Évaluation rigoureuse de la qualité RAG via le framework Triade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🎯 1. Fidélité (Groundedness)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Définition : Mesure si la réponse de l'IA est strictement étayée par les documents extraits.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Résultat T-chIA : 100.0%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Signification Métier : Zéro hallucination. L'IA ne formule aucune information en dehors du cadre réglementaire SGCI fourni.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💬 2. Pertinence Réponse (Answer Relevance)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Définition : Mesure l'adéquation exacte entre la question posée par l'apprenant et la réponse générée.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Résultat T-chIA : 93.3%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Signification Métier : Réponses directes, concises et parfaitement alignées avec le besoin d'apprentissage.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566160" cy="49377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9333EA"/>
                </a:solidFill>
              </a:defRPr>
            </a:pPr>
            <a:r>
              <a:t>⚡ 3. Pertinence Contexte &amp; Latence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Pertinence Contexte : 88.3% (Qualité du chunking et du retrieval vectoriel).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Latence Retrieval : 223.5 ms (Recherche ChromaDB ultra-rapide).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Latence Totale : 3.88 s par requête (Génération fluide en situation de production).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6. Résultats Expérimentaux &amp; Dashboard d'Audit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Données chiffrées issues du module d'évaluation automatique RAG Super Admin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📊 Synthèse des Performances du Moteur RAG T-chIA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MÉTRIQUE AUDITÉE                     | SCORE OBTENU | SEUIL REQUIS | STATUT DE VALIDATION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-------------------------------------|--------------|--------------|---------------------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Groundedness / Non-Hallucination   | 100.0 %      | 100.0 %      | ✅ CONFORME (Zéro Hallucination)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Global RAG Score                   | 93.9 %       | &gt; 85.0 %     | ✅ EXCELLENT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Answer Relevance                   | 93.3 %       | &gt; 85.0 %     | ✅ TRÈS PERTINENT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Context Relevance                  | 88.3 %       | &gt; 80.0 %     | ✅ CONFORME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Retrieval Latency (ChromaDB)       | 223.5 ms     | &lt; 500 ms      | ✅ HAUTE PERFORMANCE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• Total Latency (End-to-End)         | 3.88 s       | &lt; 5.00 s      | ✅ FLUIDE EN PRODUCTION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💡 Conclusion de l'Audit : Le système offre une fiabilité totale sur les données privées de la SGCI, indispensable pour les cours de conformité et de réglementations bancaires.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7. Pitch Direction Innovation : Proposition de Valeur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Faire de la SGCI le leader de l'adoption raisonnée de l'IA Générative bancaire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🚀 Accélération de la Transformation IA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Pionnier sous-régional : Positionne la SGCI comme la première filiale bancaire de l'Afrique de l'Ouest à déployer un tuteur IA interactif RAG multimodal.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Agilité d'innovation : Capacité à transformer n'importe quel nouveau texte de loi ou circulaire bancaire en formation certifiante en &lt; 2 minutes.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Souveraineté &amp; Sécurité : Données confinées au tenant SGCI, contrôle strict des accès (RBAC), aucune réutilisation des données bancaires pour le réentraînement des modèles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💰 ROI &amp; Efficacité Opérationnelle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Réduction drastique des coûts : Suppression des frais d'ingénierie pédagogique externe et baisse des coûts logistiques présentiels.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Modèle d'architecture sobre : Stack basée sur Python, ChromaDB et Edge-TTS (composants open-source) combinée à Gemini Flash (coût API très faible).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Scalabilité immédiate : Déploiement sans friction auprès de l'ensemble des 2000+ collaborateurs SGCI sans dégradation de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8. Analyse Comparative : Avant vs Après T-chIA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Mesure de l'impact opérationnel et de la création de valeur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E9041E"/>
                </a:solidFill>
              </a:defRPr>
            </a:pPr>
            <a:r>
              <a:t>❌ AVANT T-chIA (Processus Traditionnel)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Temps de création : 3 semaines par formation (rédaction slides, quiz, narration).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Format d'apprentissage : Support PDF/PPTX statique, aucune assistance vocale.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Évaluation : QCM basique sans analyse qualitative des réponses.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Suivi de conformité : Tracking manuel des retards sur tableau Excel, risque d'échéance dépassée.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Engagement collaborateur : Faible taux de complétion sur les cours obligatoires.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✅ APPRÈS T-chIA (Apprentissage Augmenté)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Temps de création : &lt; 2 minutes par formation (-95% de gain temporel).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Format d'apprentissage : Cours interactif avec tuteur vocal Edge-TTS et session Live IA.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Évaluation : Épreuve composite 70% QCM + 30% soutenance orale scorée par IA.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Suivi de conformité : Calcul automatique des 10 jours ouvrés CI, pings actifs (45s) et cockpit RH.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Engagement collaborateur : Expérience fluide, ludique et disponible 24/7.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9. Matrice des Apports par Direction SGCI &amp; Groupe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Des bénéfices ciblés et mesurables pour chaque partie prenante bancaire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🏢 Vue d'ensemble des Retombées Stratégiques &amp; Opérationnelles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DIRECTION DES RESSOURCES HUMAINES &amp; SGCI ACADEMY : Gain de temps massif (-95%), pilotage des compétences en temps réel, zéro logistique lourde.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DIRECTION CONFORMITÉ, RISQUES &amp; JURIDIQUE : Respect garanti du délai de 10 jours ouvrés bancaires CI, traçabilité des consentements RGPD, preuve d'auditabilité pour la BCEAO.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DIRECTION INFORMATIQUE (DSI) : Solution microservices moderne, facile à intégrer au SI SGCI, respect des normes de sécurité bancaire et RBAC.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DIRECTION COMMERCIALE &amp; RÉSEAU D'AGENCES : Formation 'à chaud' des conseillers avant les RDV clients, flexibilité d'apprentissage sans fermer les guichets.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GROUPE SOCIÉTÉ GÉNÉRALE (AFMO / PARIS) : Standard réutilisable et industrialisable dans les filiales Afrique et au-delà.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10. Focus DRH &amp; SGCI Academy : Cockpit de Pilotage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Un LXP / LMS bancaire complet avec suivi en temps réel et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📊 Espace Administrateur RH (6 Vues Analytics)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1. Vue d'ensemble : Taux de complétion, formations actives, moyenne des évaluations et téléchargements.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2. Collaborateurs en ligne : Indicator dynamique des apprenants actifs au cours des 5 dernières min (Heartbeat 45s).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3. Activité par formation : Métriques détaillées par cours (inscrits, complétés, note moyenne).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4. Supports téléchargés : Suivi des consultations et téléchargements de PDF/PPTX.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5. Timeline individuelle : Audit complet du parcours d'un collaborateur.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6. Formations en retard : Alertes sur les dépassements du délai de 10j ouvrés.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📈 Export &amp; Conduite du Changement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Export CSV en un clic : Extraction complète des métriques pour alimenter les reportings de la DRH.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Parcours de certification normé : Valorisation des collaborateurs certifiés via des attestations de réussite.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Conduite du changement : Réduction de la résistance à la formation obligatoire grâce au format interactif et vocal.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11. Focus Conformité, Risques &amp; Sécurité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Maîtrise du risque réglementaire, traçabilité RGPD et auditabilité BCEAO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🛡️ Modal de Divulgation IA &amp; Consentement RGPD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Écran de consentement obligatoire lors de la première connexion.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Validation explicite de 3 engagements 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1. Usage strictly professionnel des outils IA.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2. Rôle d'assistance pédagogique de l'IA sans prise de décision disciplinaire automatique.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3. Non-divulgation de données client confidentielles (Secret bancaire).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Historisation horodatée dans la table `user_consents` (Audit Trail).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⚖️ Garanties d'Auditabilité &amp; Régulation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Moteur RAG 100% Grounded : Garantie de non-hallucination évitant toute mauvaise interprétation des textes de loi.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Conduite des contrôles BCEAO : Preuve irréfutable de la réalisation des formations réglementaires dans le délai légal de 10 jours ouvrés.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Alignement AI Act &amp; Standards Groupe SG : Transparence sur l'utilisation des modèles d'IA générative.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12. Focus DSI (Informatique) &amp; Réseau Commercial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Architecture logicielle robuste et valeur ajoutée pour les conseillers réseau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💻 Synergie avec la DSI (Direction Informatique)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Architecture Micro-services : Backend Flask/FastAPI découplé, facile à conteneuriser (Docker).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Sécurité &amp; Contrôle d'Accès : RBAC à 3 niveaux (Super Admin, Admin RH, Apprenant), authentification sécurisée.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Indépendance logicielle : Stack ne nécessitant aucun composant lourd propriétaire payant.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🏦 Synergie avec le Réseau d'Agences Commerciales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Formation à la carte / 'Just-in-Time' : Possibilité pour un conseiller d'interroger le tuteur IA sur une nouvelle offre produit avant son rendez-vous.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Réduction de l'absentéisme en agence : Fin des déplacements vers le siège pour les sessions de formation présentielle.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Montée en compétences accélérée : Apprentissage ludique et interactif à son propre rythme.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13. Vision Stratégique Groupe &amp; Synergies AFMO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Du succès SGCI vers un déploiement multi-filiales au sein du Groupe Société Générale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🌍 Rayonnement &amp; Scalabilité au sein du Groupe SG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1. DÉPLOIEMENT RÉGIONAL AFMO (AFRIQUE DE L'OUEST &amp; CENTRALE)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Déclinaison facile de la solution pour d'autres filiales du Groupe (SGCI, SGBCI, SGBS, etc.) avec adaptation des calendriers bancaires locaux.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2. RÉUTILISATION DU MOTEUR RAG POUR D'AUTRES USAGES BANCAIRES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Extension de T-chIA vers un assistant de recherche réglementaire 'Copilot Conseiller' pour accélérer le traitement des demandes clients en agence.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3. VALORISATION DE L'INNOVATION AFRIQUE AU SEIN DU GROUPE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 • Illustration concrète de la capacité d'innovation et de la maîtrise IA du hub SGCI Côte d'Ivoire auprès de la Direction Innovation Groupe à Paris.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900" b="1">
                <a:solidFill>
                  <a:srgbClr val="E9041E"/>
                </a:solidFill>
              </a:defRPr>
            </a:pPr>
            <a:r>
              <a:t>SGCI ACADEMY | DIRECTION INNOVATION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14. Limites Actuelles &amp; Feuille de Route d'Industrialisation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Perspectives d'évolution technique et opérationnelle pour le passage à l'échelle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solidFill>
              <a:srgbClr val="E90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T-chIA — Pré-soutenance PFE Master Data Science &amp; IA | Société Générale Côte d'Ivoire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E9041E"/>
                </a:solidFill>
              </a:defRPr>
            </a:pPr>
            <a:r>
              <a:t>⚠️ Limites Actuelles Identifiées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Scalabilité de la Persistance : SQLite idéal pour la démonstration/POC mais nécessitant une transition vers PostgreSQL pour la haute charge en production.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Dépendance aux API Cloud : Utilisation de Gemini Cloud nécessitant une connexion internet stable.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Traitement des Médias Complexes : Extractions principalement axées sur le texte et les présentations (intégration future de l'OCR vidéo).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🗺️ Feuille de Route (Roadmap 2026-2027)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Phase 1 (T4 2026) - Industrialisation DevOps : Conteneurisation Docker, CI/CD, migration SQLite -&gt; PostgreSQL &amp; ChromaDB Server / Qdrant.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Phase 2 (T1 2027) - Agents Autonomes Multi-RAG : Architecture multi-agents (Agent Quiz, Agent Tutor, Agent Compliance).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Phase 3 (T2 2027) - Application Mobile &amp; Offline : Version mobile iOS/Android avec cache sémantique et mode hors-ligne.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E9041E"/>
                </a:solidFill>
              </a:defRPr>
            </a:pPr>
            <a:r>
              <a:t>CONCLUSION &amp; REMERCIEMENTS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T-chIA : L'Alliance Réussie de la Rigueur Académique et de la Valeur Métier Bancaire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• MABIALA Bergin — Master 2 Data Science, Big Data &amp; IA</a:t>
            </a:r>
            <a:br/>
            <a:r>
              <a:t>• Stage de Fin d'Études réalisé à la Société Générale Côte d'Ivoire (SGCI)</a:t>
            </a:r>
            <a:br/>
            <a:br/>
            <a:r>
              <a:t>Merci pour votre attention. Je suis à présent disponible pour répondre à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