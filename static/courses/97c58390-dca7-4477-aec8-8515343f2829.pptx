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2560320" cy="1600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828800"/>
            <a:ext cx="1036289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502920" rIns="548640" bIns="457200"/>
          <a:lstStyle/>
          <a:p>
            <a:pPr algn="ctr">
              <a:spcAft>
                <a:spcPts val="2000"/>
              </a:spcAft>
              <a:defRPr sz="1100" b="1">
                <a:solidFill>
                  <a:srgbClr val="E9041E"/>
                </a:solidFill>
                <a:latin typeface="Arial"/>
              </a:defRPr>
            </a:pPr>
            <a:r>
              <a:t>FORMATION PROFESSIONNELLE  •  DOMAINE : IA</a:t>
            </a:r>
          </a:p>
          <a:p>
            <a:pPr>
              <a:spcAft>
                <a:spcPts val="2200"/>
              </a:spcAft>
              <a:defRPr sz="3400" b="1">
                <a:solidFill>
                  <a:srgbClr val="0F172A"/>
                </a:solidFill>
                <a:latin typeface="Arial"/>
              </a:defRPr>
            </a:pPr>
            <a:r>
              <a:t>test000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Module interactif certifiant  |  Accompagnement par Tuteur IA  |  SGCI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" cy="3931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8686800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6693408"/>
            <a:ext cx="35048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Sommaire de la formation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2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26464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399032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L'Architecture Globale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49424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350008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22576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L'Encodeur : Analyser et Comprendre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72968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273551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46120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Le Décodeur : Prédire et Générer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96512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197096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69664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Le Cœur du Système : Le Mécanisme d'Attention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L'Architecture Globale du Transformer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3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25880"/>
            <a:ext cx="469361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97c58390-dca7-4477-aec8-8515343f2829_illustr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63040"/>
            <a:ext cx="4419295" cy="27987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1325880"/>
            <a:ext cx="5577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Présentée en 2017 dans le papier historique 'Attention Is All You Need'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633472"/>
            <a:ext cx="5577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Structure symétrique composée de deux blocs : </a:t>
            </a:r>
            <a:r>
              <a:rPr b="0" sz="1500">
                <a:solidFill>
                  <a:srgbClr val="0F172A"/>
                </a:solidFill>
                <a:latin typeface="Arial"/>
              </a:rPr>
              <a:t>l'Encodeur et le Décodeur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941063"/>
            <a:ext cx="5577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Traitement parallèle de l'information pour une efficacité démultipliée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L'Encodeur : Analyser et Comprendre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4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Embedding : </a:t>
            </a:r>
            <a:r>
              <a:rPr b="0" sz="1500">
                <a:solidFill>
                  <a:srgbClr val="0F172A"/>
                </a:solidFill>
                <a:latin typeface="Arial"/>
              </a:rPr>
              <a:t>conversion des mots en vecteurs mathématiques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Positional Encoding : </a:t>
            </a:r>
            <a:r>
              <a:rPr b="0" sz="1500">
                <a:solidFill>
                  <a:srgbClr val="0F172A"/>
                </a:solidFill>
                <a:latin typeface="Arial"/>
              </a:rPr>
              <a:t>injection de la position et de l'ordre des mots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Multi-Head Attention : </a:t>
            </a:r>
            <a:r>
              <a:rPr b="0" sz="1500">
                <a:solidFill>
                  <a:srgbClr val="0F172A"/>
                </a:solidFill>
                <a:latin typeface="Arial"/>
              </a:rPr>
              <a:t>capture des relations complexes et du contexte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Le Décodeur : Prédire et Générer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5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Génération mot à mot de manière auto-regressive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Masquage (Masked Attention) pour éviter de tricher sur les mots futurs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Interaction constante avec les informations issues de l'Encodeur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Le Mécanisme d'Attention : Le Cœur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6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Focus sélectif sur les parties les plus pertinentes du 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Utilisation des concepts de Requête (Query), Clé (Key) et Valeur (Value)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Calcul de scores de pertinence pour relier dynamiquement les mots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Conclusion : Une Révolution Technologique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test000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7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Socle fondamental de tous les modèles de langage actuels (LLM)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Capacité de passage à l'échelle (scaling) sans précédent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sz="1500">
                <a:solidFill>
                  <a:srgbClr val="0F172A"/>
                </a:solidFill>
                <a:latin typeface="Arial"/>
              </a:rPr>
              <a:t>Une structure unifiée pour le texte, le code, l'image et l'audio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