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94360"/>
            <a:ext cx="2560320" cy="2560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1828800"/>
            <a:ext cx="10362895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0" tIns="502920" rIns="548640" bIns="457200"/>
          <a:lstStyle/>
          <a:p>
            <a:pPr algn="ctr">
              <a:spcAft>
                <a:spcPts val="2000"/>
              </a:spcAft>
              <a:defRPr sz="1100" b="1">
                <a:solidFill>
                  <a:srgbClr val="E9041E"/>
                </a:solidFill>
                <a:latin typeface="Arial"/>
              </a:defRPr>
            </a:pPr>
            <a:r>
              <a:t>FORMATION PROFESSIONNELLE  •  DOMAINE : MANAGEMENT</a:t>
            </a:r>
          </a:p>
          <a:p>
            <a:pPr>
              <a:spcAft>
                <a:spcPts val="2200"/>
              </a:spcAft>
              <a:defRPr sz="3400" b="1">
                <a:solidFill>
                  <a:srgbClr val="0F172A"/>
                </a:solidFill>
                <a:latin typeface="Arial"/>
              </a:defRPr>
            </a:pPr>
            <a:r>
              <a:t>La Pyramide de Maslow : Comprendre les Besoins pour Mieux Manager</a:t>
            </a:r>
          </a:p>
          <a:p>
            <a:pPr>
              <a:defRPr sz="1300">
                <a:solidFill>
                  <a:srgbClr val="475569"/>
                </a:solidFill>
                <a:latin typeface="Arial"/>
              </a:defRPr>
            </a:pPr>
            <a:r>
              <a:t>Module interactif certifiant  |  Accompagnement par Tuteur IA  |  SGCI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182880" cy="3931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8686800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6693408"/>
            <a:ext cx="3504895" cy="16459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Sommaire de la formation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1463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Maslow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2 /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426464"/>
            <a:ext cx="594360" cy="5760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399032"/>
            <a:ext cx="94183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Point 1 : Comprendre l'humain au travail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249424"/>
            <a:ext cx="1054577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2350008"/>
            <a:ext cx="594360" cy="5760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322576"/>
            <a:ext cx="94183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Point 2 : Les 5 niveaux de besoins selon Maslow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172968"/>
            <a:ext cx="1054577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3273551"/>
            <a:ext cx="594360" cy="5760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246120"/>
            <a:ext cx="94183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Point 3 : Le principe de hiérarchie et la posture managériale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096512"/>
            <a:ext cx="10545775" cy="777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4197096"/>
            <a:ext cx="594360" cy="576072"/>
          </a:xfrm>
          <a:prstGeom prst="round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169664"/>
            <a:ext cx="94183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Arial"/>
              </a:defRPr>
            </a:pPr>
            <a:r>
              <a:t>Point 4 : Synthèse et application opérationnelle à la SGCI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L'Homme au centre : Une approche globale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1463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Maslow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3 /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Vision globale : </a:t>
            </a:r>
            <a:r>
              <a:rPr b="0" sz="1500">
                <a:solidFill>
                  <a:srgbClr val="0F172A"/>
                </a:solidFill>
                <a:latin typeface="Arial"/>
              </a:rPr>
              <a:t>l'humain possède des dimensions physiologiques, psychologiques, sociologiques et spirituelles.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Application au management : </a:t>
            </a:r>
            <a:r>
              <a:rPr b="0" sz="1500">
                <a:solidFill>
                  <a:srgbClr val="0F172A"/>
                </a:solidFill>
                <a:latin typeface="Arial"/>
              </a:rPr>
              <a:t>un collaborateur n'est pas qu'une fonction, c'est une personne à part entière.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Objectif : </a:t>
            </a:r>
            <a:r>
              <a:rPr b="0" sz="1500">
                <a:solidFill>
                  <a:srgbClr val="0F172A"/>
                </a:solidFill>
                <a:latin typeface="Arial"/>
              </a:rPr>
              <a:t>comprendre ce qui motive et freine vos équipes au quotidien.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Les 5 niveaux de besoins essentiels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1463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Maslow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4 /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81930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350">
                <a:solidFill>
                  <a:srgbClr val="0F172A"/>
                </a:solidFill>
                <a:latin typeface="Arial"/>
              </a:rPr>
              <a:t>1. Maintien de la vie : </a:t>
            </a:r>
            <a:r>
              <a:rPr b="0" sz="1350">
                <a:solidFill>
                  <a:srgbClr val="0F172A"/>
                </a:solidFill>
                <a:latin typeface="Arial"/>
              </a:rPr>
              <a:t>faim, soif, repos, sécurité physique de 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484071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309774"/>
            <a:ext cx="10545775" cy="81930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350">
                <a:solidFill>
                  <a:srgbClr val="0F172A"/>
                </a:solidFill>
                <a:latin typeface="Arial"/>
              </a:rPr>
              <a:t>2. Protection et sécurité : </a:t>
            </a:r>
            <a:r>
              <a:rPr b="0" sz="1350">
                <a:solidFill>
                  <a:srgbClr val="0F172A"/>
                </a:solidFill>
                <a:latin typeface="Arial"/>
              </a:rPr>
              <a:t>emploi stable, cadre de travail sûr, confiance.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467965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293668"/>
            <a:ext cx="10545775" cy="81930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350">
                <a:solidFill>
                  <a:srgbClr val="0F172A"/>
                </a:solidFill>
                <a:latin typeface="Arial"/>
              </a:rPr>
              <a:t>3. Amour et appartenance : </a:t>
            </a:r>
            <a:r>
              <a:rPr b="0" sz="1350">
                <a:solidFill>
                  <a:srgbClr val="0F172A"/>
                </a:solidFill>
                <a:latin typeface="Arial"/>
              </a:rPr>
              <a:t>intégration dans l'équipe, écoute, statut.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3451859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277563"/>
            <a:ext cx="10545775" cy="81930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350">
                <a:solidFill>
                  <a:srgbClr val="0F172A"/>
                </a:solidFill>
                <a:latin typeface="Arial"/>
              </a:rPr>
              <a:t>4. Estime de soi : </a:t>
            </a:r>
            <a:r>
              <a:rPr b="0" sz="1350">
                <a:solidFill>
                  <a:srgbClr val="0F172A"/>
                </a:solidFill>
                <a:latin typeface="Arial"/>
              </a:rPr>
              <a:t>reconnaissance du travail accompli, autonomie, valorisation.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" y="4435754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5261457"/>
            <a:ext cx="10545775" cy="81930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350">
                <a:solidFill>
                  <a:srgbClr val="0F172A"/>
                </a:solidFill>
                <a:latin typeface="Arial"/>
              </a:rPr>
              <a:t>5. Réalisation de soi : </a:t>
            </a:r>
            <a:r>
              <a:rPr b="0" sz="1350">
                <a:solidFill>
                  <a:srgbClr val="0F172A"/>
                </a:solidFill>
                <a:latin typeface="Arial"/>
              </a:rPr>
              <a:t>développement des compétences, créativité, résolution de défis.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5419648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Le principe de hiérarchie : Comment ça marche ?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1463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Maslow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5 /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Progression logique : </a:t>
            </a:r>
            <a:r>
              <a:rPr b="0" sz="1500">
                <a:solidFill>
                  <a:srgbClr val="0F172A"/>
                </a:solidFill>
                <a:latin typeface="Arial"/>
              </a:rPr>
              <a:t>un besoin de niveau inférieur doit d'abord être satisfait.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Priorité de la sécurité : </a:t>
            </a:r>
            <a:r>
              <a:rPr b="0" sz="1500">
                <a:solidFill>
                  <a:srgbClr val="0F172A"/>
                </a:solidFill>
                <a:latin typeface="Arial"/>
              </a:rPr>
              <a:t>impossible de viser la reconnaissance si le poste ou le salaire est menacé.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Rôle du manager : </a:t>
            </a:r>
            <a:r>
              <a:rPr b="0" sz="1500">
                <a:solidFill>
                  <a:srgbClr val="0F172A"/>
                </a:solidFill>
                <a:latin typeface="Arial"/>
              </a:rPr>
              <a:t>identifier quel besoin bloque un collaborateur pour l'aider à avancer.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0040"/>
            <a:ext cx="109728" cy="54864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56032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Synthèse et application managériale à la SGCI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274320"/>
            <a:ext cx="1463040" cy="1463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" y="1078992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6263640"/>
            <a:ext cx="1054577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27648"/>
            <a:ext cx="7315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Société Générale Côte d'Ivoire  •  T-chIA  •  Maslow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27648"/>
            <a:ext cx="176753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50" b="1">
                <a:solidFill>
                  <a:srgbClr val="0F172A"/>
                </a:solidFill>
                <a:latin typeface="Arial"/>
              </a:defRPr>
            </a:pPr>
            <a:r>
              <a:t>6 /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25880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Écoute active : </a:t>
            </a:r>
            <a:r>
              <a:rPr b="0" sz="1500">
                <a:solidFill>
                  <a:srgbClr val="0F172A"/>
                </a:solidFill>
                <a:latin typeface="Arial"/>
              </a:rPr>
              <a:t>prenez le temps de sonder le bien-être et les attentes de vos équipes.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" y="1645920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33472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Sécurité et confiance : </a:t>
            </a:r>
            <a:r>
              <a:rPr b="0" sz="1500">
                <a:solidFill>
                  <a:srgbClr val="0F172A"/>
                </a:solidFill>
                <a:latin typeface="Arial"/>
              </a:rPr>
              <a:t>offrez un cadre de travail stable et protecteur.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2953512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41063"/>
            <a:ext cx="1054577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94360" rIns="365760" tIns="73152" bIns="73152"/>
          <a:lstStyle/>
          <a:p>
            <a:pPr algn="l"/>
            <a:r>
              <a:rPr b="1" sz="1500">
                <a:solidFill>
                  <a:srgbClr val="0F172A"/>
                </a:solidFill>
                <a:latin typeface="Arial"/>
              </a:rPr>
              <a:t>Revalorisation : </a:t>
            </a:r>
            <a:r>
              <a:rPr b="0" sz="1500">
                <a:solidFill>
                  <a:srgbClr val="0F172A"/>
                </a:solidFill>
                <a:latin typeface="Arial"/>
              </a:rPr>
              <a:t>célébrez les réussites pour nourrir l'estime et l'appartenance à la SGCI.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4261103"/>
            <a:ext cx="109728" cy="502920"/>
          </a:xfrm>
          <a:prstGeom prst="rect">
            <a:avLst/>
          </a:prstGeom>
          <a:solidFill>
            <a:srgbClr val="E90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