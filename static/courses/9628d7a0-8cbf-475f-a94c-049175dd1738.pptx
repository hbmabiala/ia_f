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TRANSFORMER 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Domaine : IA</a:t>
            </a:r>
          </a:p>
          <a:p>
            <a:r>
              <a:t>Formation Professionnelle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1. Architecture globale : Encodeur et Décodeur</a:t>
            </a:r>
          </a:p>
          <a:p>
            <a:r>
              <a:t>2. 2. L'entrée des données : Embeddings et Positional Encoding</a:t>
            </a:r>
          </a:p>
          <a:p>
            <a:r>
              <a:t>3. 3. Le moteur du modèle : Multi-Head Attention</a:t>
            </a:r>
          </a:p>
          <a:p>
            <a:r>
              <a:t>4. 4. La phase de sortie : Couche Linéaire et Softmax</a:t>
            </a:r>
          </a:p>
          <a:p>
            <a:r>
              <a:t>5. 5.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1. Architecture globale : Encodeur et Décodeur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Structure séparée en deux blocs verticaux principaux</a:t>
            </a:r>
          </a:p>
          <a:p>
            <a:pPr>
              <a:spcAft>
                <a:spcPts val="1000"/>
              </a:spcAft>
              <a:defRPr sz="1600"/>
            </a:pPr>
            <a:r>
              <a:t>• Colonne de gauche : L'Encodeur (analyse du texte)</a:t>
            </a:r>
          </a:p>
          <a:p>
            <a:pPr>
              <a:spcAft>
                <a:spcPts val="1000"/>
              </a:spcAft>
              <a:defRPr sz="1600"/>
            </a:pPr>
            <a:r>
              <a:t>• Colonne de droite : Le Décodeur (génération de la réponse)</a:t>
            </a:r>
          </a:p>
          <a:p>
            <a:pPr>
              <a:spcAft>
                <a:spcPts val="1000"/>
              </a:spcAft>
              <a:defRPr sz="1600"/>
            </a:pPr>
            <a:r>
              <a:t>• Répétition des blocs désignée par la notation 'Nx'</a:t>
            </a:r>
          </a:p>
        </p:txBody>
      </p:sp>
      <p:pic>
        <p:nvPicPr>
          <p:cNvPr id="4" name="Picture 3" descr="9628d7a0-8cbf-475f-a94c-049175dd173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9670"/>
            <a:ext cx="5303520" cy="3358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2. L'entrée des données : Embeddings &amp; Positional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Input &amp; Output Embeddings : Conversion des mots en vecteurs</a:t>
            </a:r>
          </a:p>
          <a:p>
            <a:pPr>
              <a:spcAft>
                <a:spcPts val="1000"/>
              </a:spcAft>
              <a:defRPr sz="1600"/>
            </a:pPr>
            <a:r>
              <a:t>• Positional Encoding : Signal indiquant l'ordre des mots</a:t>
            </a:r>
          </a:p>
          <a:p>
            <a:pPr>
              <a:spcAft>
                <a:spcPts val="1000"/>
              </a:spcAft>
              <a:defRPr sz="1600"/>
            </a:pPr>
            <a:r>
              <a:t>• Addition des deux vecteurs avant les blocs d'attention</a:t>
            </a:r>
          </a:p>
        </p:txBody>
      </p:sp>
      <p:pic>
        <p:nvPicPr>
          <p:cNvPr id="4" name="Picture 3" descr="9628d7a0-8cbf-475f-a94c-049175dd173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9670"/>
            <a:ext cx="5303520" cy="33587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3. Le moteur du modèle : Multi-Head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Multi-Head Attention : Capture des relations complexes entre les mots</a:t>
            </a:r>
          </a:p>
          <a:p>
            <a:pPr>
              <a:spcAft>
                <a:spcPts val="1000"/>
              </a:spcAft>
              <a:defRPr sz="1600"/>
            </a:pPr>
            <a:r>
              <a:t>• Masked Multi-Head Attention : Masquage des mots futurs pour éviter de tricher</a:t>
            </a:r>
          </a:p>
          <a:p>
            <a:pPr>
              <a:spcAft>
                <a:spcPts val="1000"/>
              </a:spcAft>
              <a:defRPr sz="1600"/>
            </a:pPr>
            <a:r>
              <a:t>• Modules Add &amp; Norm : Connexions résiduelles pour un entraînement stable</a:t>
            </a:r>
          </a:p>
        </p:txBody>
      </p:sp>
      <p:pic>
        <p:nvPicPr>
          <p:cNvPr id="4" name="Picture 3" descr="9628d7a0-8cbf-475f-a94c-049175dd173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9670"/>
            <a:ext cx="5303520" cy="3358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4. La phase de sortie : Couche Linéaire et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Feed Forward : Réseau de neurones dense pour traiter l'information</a:t>
            </a:r>
          </a:p>
          <a:p>
            <a:pPr>
              <a:spcAft>
                <a:spcPts val="1000"/>
              </a:spcAft>
              <a:defRPr sz="1600"/>
            </a:pPr>
            <a:r>
              <a:t>• Couche Linear : Projection vers la taille du vocabulaire</a:t>
            </a:r>
          </a:p>
          <a:p>
            <a:pPr>
              <a:spcAft>
                <a:spcPts val="1000"/>
              </a:spcAft>
              <a:defRPr sz="1600"/>
            </a:pPr>
            <a:r>
              <a:t>• Couche Softmax : Conversion des scores en probabilités de mots</a:t>
            </a:r>
          </a:p>
        </p:txBody>
      </p:sp>
      <p:pic>
        <p:nvPicPr>
          <p:cNvPr id="4" name="Picture 3" descr="9628d7a0-8cbf-475f-a94c-049175dd173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9670"/>
            <a:ext cx="5303520" cy="33587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Révolution de l'IA grâce à la parallélisation complète des traitements</a:t>
            </a:r>
          </a:p>
          <a:p>
            <a:pPr>
              <a:spcAft>
                <a:spcPts val="1000"/>
              </a:spcAft>
              <a:defRPr sz="1600"/>
            </a:pPr>
            <a:r>
              <a:t>• Base fondamentale des modèles comme ChatGPT, Claude ou BERT</a:t>
            </a:r>
          </a:p>
          <a:p>
            <a:pPr>
              <a:spcAft>
                <a:spcPts val="1000"/>
              </a:spcAft>
              <a:defRPr sz="1600"/>
            </a:pPr>
            <a:r>
              <a:t>• Combinaison puissante d'attention multi-têtes et de résidus</a:t>
            </a:r>
          </a:p>
        </p:txBody>
      </p:sp>
      <p:pic>
        <p:nvPicPr>
          <p:cNvPr id="4" name="Picture 3" descr="9628d7a0-8cbf-475f-a94c-049175dd1738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9670"/>
            <a:ext cx="5303520" cy="3358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