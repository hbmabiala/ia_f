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94360"/>
            <a:ext cx="2560320" cy="16002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14400" y="1828800"/>
            <a:ext cx="10362895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502920" rIns="548640" bIns="457200"/>
          <a:lstStyle/>
          <a:p>
            <a:pPr algn="ctr">
              <a:spcAft>
                <a:spcPts val="2000"/>
              </a:spcAft>
              <a:defRPr sz="1100" b="1">
                <a:solidFill>
                  <a:srgbClr val="E9041E"/>
                </a:solidFill>
                <a:latin typeface="Arial"/>
              </a:defRPr>
            </a:pPr>
            <a:r>
              <a:t>FORMATION PROFESSIONNELLE  •  DOMAINE : AGILITÉ</a:t>
            </a:r>
          </a:p>
          <a:p>
            <a:pPr>
              <a:spcAft>
                <a:spcPts val="2200"/>
              </a:spcAft>
              <a:defRPr sz="3400" b="1">
                <a:solidFill>
                  <a:srgbClr val="0F172A"/>
                </a:solidFill>
                <a:latin typeface="Arial"/>
              </a:defRPr>
            </a:pPr>
            <a:r>
              <a:t>Gestion de projet Scrum : Transition vers le rôle de Product Owner</a:t>
            </a:r>
          </a:p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Module interactif certifiant  |  Accompagnement par Tuteur IA  |  SGCI Academy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82880" cy="3931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8686800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0" y="6693408"/>
            <a:ext cx="3504895" cy="164592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"/>
            <a:ext cx="109728" cy="54864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Sommaire de la formation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463040" cy="914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1078992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263640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27648"/>
            <a:ext cx="7315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Société Générale Côte d'Ivoire  •  T-chIA  •  Gestion de projet scrum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27648"/>
            <a:ext cx="176753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50" b="1">
                <a:solidFill>
                  <a:srgbClr val="0F172A"/>
                </a:solidFill>
                <a:latin typeface="Arial"/>
              </a:defRPr>
            </a:pPr>
            <a:r>
              <a:t>2 /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325880"/>
            <a:ext cx="10545775" cy="6629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1426464"/>
            <a:ext cx="594360" cy="461772"/>
          </a:xfrm>
          <a:prstGeom prst="round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399032"/>
            <a:ext cx="9418320" cy="5166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50" b="1">
                <a:solidFill>
                  <a:srgbClr val="0F172A"/>
                </a:solidFill>
                <a:latin typeface="Arial"/>
              </a:defRPr>
            </a:pPr>
            <a:r>
              <a:t>L'esprit Scrum et le pivot vers le rôle de Product Owner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135124"/>
            <a:ext cx="10545775" cy="6629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5840" y="2235708"/>
            <a:ext cx="594360" cy="461772"/>
          </a:xfrm>
          <a:prstGeom prst="round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208276"/>
            <a:ext cx="9418320" cy="5166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50" b="1">
                <a:solidFill>
                  <a:srgbClr val="0F172A"/>
                </a:solidFill>
                <a:latin typeface="Arial"/>
              </a:defRPr>
            </a:pPr>
            <a:r>
              <a:t>Responsabilités exclusives du Product Owner et gestion de la valeur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944368"/>
            <a:ext cx="10545775" cy="6629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5840" y="3044952"/>
            <a:ext cx="594360" cy="461772"/>
          </a:xfrm>
          <a:prstGeom prst="round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017520"/>
            <a:ext cx="9418320" cy="5166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50" b="1">
                <a:solidFill>
                  <a:srgbClr val="0F172A"/>
                </a:solidFill>
                <a:latin typeface="Arial"/>
              </a:defRPr>
            </a:pPr>
            <a:r>
              <a:t>L'art de l'affinage et de la priorisation du Product Backlog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753612"/>
            <a:ext cx="10545775" cy="6629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5840" y="3854196"/>
            <a:ext cx="594360" cy="461772"/>
          </a:xfrm>
          <a:prstGeom prst="round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826764"/>
            <a:ext cx="9418320" cy="5166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50" b="1">
                <a:solidFill>
                  <a:srgbClr val="0F172A"/>
                </a:solidFill>
                <a:latin typeface="Arial"/>
              </a:defRPr>
            </a:pPr>
            <a:r>
              <a:t>Dynamique des événements Scrum et positionnement du PO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562856"/>
            <a:ext cx="10545775" cy="6629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05840" y="4663440"/>
            <a:ext cx="594360" cy="461772"/>
          </a:xfrm>
          <a:prstGeom prst="round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4636008"/>
            <a:ext cx="9418320" cy="5166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50" b="1">
                <a:solidFill>
                  <a:srgbClr val="0F172A"/>
                </a:solidFill>
                <a:latin typeface="Arial"/>
              </a:defRPr>
            </a:pPr>
            <a:r>
              <a:t>Qualité logicielle, Définition de Terminé et Incrément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372100"/>
            <a:ext cx="10545775" cy="6629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5840" y="5472684"/>
            <a:ext cx="594360" cy="461772"/>
          </a:xfrm>
          <a:prstGeom prst="round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5445252"/>
            <a:ext cx="9418320" cy="5166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50" b="1">
                <a:solidFill>
                  <a:srgbClr val="0F172A"/>
                </a:solidFill>
                <a:latin typeface="Arial"/>
              </a:defRPr>
            </a:pPr>
            <a:r>
              <a:t>Synthèse opérationnelle et plan de transition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"/>
            <a:ext cx="109728" cy="54864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L'esprit Scrum et le pivot vers le rôle de Product Owner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463040" cy="914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1078992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263640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27648"/>
            <a:ext cx="7315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Société Générale Côte d'Ivoire  •  T-chIA  •  Gestion de projet scrum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27648"/>
            <a:ext cx="176753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50" b="1">
                <a:solidFill>
                  <a:srgbClr val="0F172A"/>
                </a:solidFill>
                <a:latin typeface="Arial"/>
              </a:defRPr>
            </a:pPr>
            <a:r>
              <a:t>3 /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325880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b="1" sz="1500">
                <a:solidFill>
                  <a:srgbClr val="0F172A"/>
                </a:solidFill>
                <a:latin typeface="Arial"/>
              </a:rPr>
              <a:t>L'empirisme comme fondation : </a:t>
            </a:r>
            <a:r>
              <a:rPr b="0" sz="1500">
                <a:solidFill>
                  <a:srgbClr val="0F172A"/>
                </a:solidFill>
                <a:latin typeface="Arial"/>
              </a:rPr>
              <a:t>contrôle basé sur la transparence, l'inspection et l'adaptation.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1645920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633472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b="1" sz="1500">
                <a:solidFill>
                  <a:srgbClr val="0F172A"/>
                </a:solidFill>
                <a:latin typeface="Arial"/>
              </a:rPr>
              <a:t>Auto-organisation de l'équipe : </a:t>
            </a:r>
            <a:r>
              <a:rPr b="0" sz="1500">
                <a:solidFill>
                  <a:srgbClr val="0F172A"/>
                </a:solidFill>
                <a:latin typeface="Arial"/>
              </a:rPr>
              <a:t>le Scrum Master et le PO n'interviennent pas dans la technique.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" y="2953512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941063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b="1" sz="1500">
                <a:solidFill>
                  <a:srgbClr val="0F172A"/>
                </a:solidFill>
                <a:latin typeface="Arial"/>
              </a:rPr>
              <a:t>Le pivot culturel du Tech Lead : </a:t>
            </a:r>
            <a:r>
              <a:rPr b="0" sz="1500">
                <a:solidFill>
                  <a:srgbClr val="0F172A"/>
                </a:solidFill>
                <a:latin typeface="Arial"/>
              </a:rPr>
              <a:t>passer du 'Comment concevoir' (technique) au 'Quoi construire et pourquoi' (valeur).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4128" y="4261103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"/>
            <a:ext cx="109728" cy="54864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Responsabilités exclusives du Product Owner et gestion de la valeur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463040" cy="914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1078992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263640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27648"/>
            <a:ext cx="7315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Société Générale Côte d'Ivoire  •  T-chIA  •  Gestion de projet scrum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27648"/>
            <a:ext cx="176753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50" b="1">
                <a:solidFill>
                  <a:srgbClr val="0F172A"/>
                </a:solidFill>
                <a:latin typeface="Arial"/>
              </a:defRPr>
            </a:pPr>
            <a:r>
              <a:t>4 /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325880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b="1" sz="1500">
                <a:solidFill>
                  <a:srgbClr val="0F172A"/>
                </a:solidFill>
                <a:latin typeface="Arial"/>
              </a:rPr>
              <a:t>Unique responsable du Product Backlog : </a:t>
            </a:r>
            <a:r>
              <a:rPr b="0" sz="1500">
                <a:solidFill>
                  <a:srgbClr val="0F172A"/>
                </a:solidFill>
                <a:latin typeface="Arial"/>
              </a:rPr>
              <a:t>expression claire, ordonnancement stratégique et clarté des exigences.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1645920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633472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b="1" sz="1500">
                <a:solidFill>
                  <a:srgbClr val="0F172A"/>
                </a:solidFill>
                <a:latin typeface="Arial"/>
              </a:rPr>
              <a:t>Maximisation de la valeur : </a:t>
            </a:r>
            <a:r>
              <a:rPr b="0" sz="1500">
                <a:solidFill>
                  <a:srgbClr val="0F172A"/>
                </a:solidFill>
                <a:latin typeface="Arial"/>
              </a:rPr>
              <a:t>s'assurer que le travail de l'Équipe de Développement apporte le meilleur ROI.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" y="2953512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941063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b="1" sz="1500">
                <a:solidFill>
                  <a:srgbClr val="0F172A"/>
                </a:solidFill>
                <a:latin typeface="Arial"/>
              </a:rPr>
              <a:t>Une autorité unifiée : </a:t>
            </a:r>
            <a:r>
              <a:rPr b="0" sz="1500">
                <a:solidFill>
                  <a:srgbClr val="0F172A"/>
                </a:solidFill>
                <a:latin typeface="Arial"/>
              </a:rPr>
              <a:t>le PO est une personne unique, pas un comité, respectée par toute l'organisation.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4128" y="4261103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"/>
            <a:ext cx="109728" cy="54864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L'art de l'affinage et de la priorisation du Product Backlog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463040" cy="914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1078992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263640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27648"/>
            <a:ext cx="7315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Société Générale Côte d'Ivoire  •  T-chIA  •  Gestion de projet scrum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27648"/>
            <a:ext cx="176753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50" b="1">
                <a:solidFill>
                  <a:srgbClr val="0F172A"/>
                </a:solidFill>
                <a:latin typeface="Arial"/>
              </a:defRPr>
            </a:pPr>
            <a:r>
              <a:t>5 /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325880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b="1" sz="1500">
                <a:solidFill>
                  <a:srgbClr val="0F172A"/>
                </a:solidFill>
                <a:latin typeface="Arial"/>
              </a:rPr>
              <a:t>Le Backlog comme document vivant : </a:t>
            </a:r>
            <a:r>
              <a:rPr b="0" sz="1500">
                <a:solidFill>
                  <a:srgbClr val="0F172A"/>
                </a:solidFill>
                <a:latin typeface="Arial"/>
              </a:rPr>
              <a:t>évolution constante selon le marché, les retours utilisateurs et la technique.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1645920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633472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b="1" sz="1500">
                <a:solidFill>
                  <a:srgbClr val="0F172A"/>
                </a:solidFill>
                <a:latin typeface="Arial"/>
              </a:rPr>
              <a:t>Affinage collaboratif : </a:t>
            </a:r>
            <a:r>
              <a:rPr b="0" sz="1500">
                <a:solidFill>
                  <a:srgbClr val="0F172A"/>
                </a:solidFill>
                <a:latin typeface="Arial"/>
              </a:rPr>
              <a:t>ajout de détails, estimations et revues régulières (maximum 10% de la capacité de l'équipe).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" y="2953512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941063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b="1" sz="1500">
                <a:solidFill>
                  <a:srgbClr val="0F172A"/>
                </a:solidFill>
                <a:latin typeface="Arial"/>
              </a:rPr>
              <a:t>Notion de 'Prêt' (Ready) : </a:t>
            </a:r>
            <a:r>
              <a:rPr b="0" sz="1500">
                <a:solidFill>
                  <a:srgbClr val="0F172A"/>
                </a:solidFill>
                <a:latin typeface="Arial"/>
              </a:rPr>
              <a:t>amener les items du backlog à un niveau de clarté suffisant pour être planifiés.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4128" y="4261103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"/>
            <a:ext cx="109728" cy="54864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Dynamique des événements Scrum et positionnement du PO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463040" cy="914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1078992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263640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27648"/>
            <a:ext cx="7315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Société Générale Côte d'Ivoire  •  T-chIA  •  Gestion de projet scrum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27648"/>
            <a:ext cx="176753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50" b="1">
                <a:solidFill>
                  <a:srgbClr val="0F172A"/>
                </a:solidFill>
                <a:latin typeface="Arial"/>
              </a:defRPr>
            </a:pPr>
            <a:r>
              <a:t>6 /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325880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b="1" sz="1500">
                <a:solidFill>
                  <a:srgbClr val="0F172A"/>
                </a:solidFill>
                <a:latin typeface="Arial"/>
              </a:rPr>
              <a:t>Planification de Sprint : </a:t>
            </a:r>
            <a:r>
              <a:rPr b="0" sz="1500">
                <a:solidFill>
                  <a:srgbClr val="0F172A"/>
                </a:solidFill>
                <a:latin typeface="Arial"/>
              </a:rPr>
              <a:t>le PO apporte l'objectif (Sprint Goal) et clarifie les besoins sélectionnés.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1645920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633472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b="1" sz="1500">
                <a:solidFill>
                  <a:srgbClr val="0F172A"/>
                </a:solidFill>
                <a:latin typeface="Arial"/>
              </a:rPr>
              <a:t>Mêlée quotidienne (Daily Scrum) : </a:t>
            </a:r>
            <a:r>
              <a:rPr b="0" sz="1500">
                <a:solidFill>
                  <a:srgbClr val="0F172A"/>
                </a:solidFill>
                <a:latin typeface="Arial"/>
              </a:rPr>
              <a:t>événement exclusif à l'Équipe de Développement pour s'auto-organiser.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" y="2953512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941063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b="1" sz="1500">
                <a:solidFill>
                  <a:srgbClr val="0F172A"/>
                </a:solidFill>
                <a:latin typeface="Arial"/>
              </a:rPr>
              <a:t>Revue et Rétrospective : </a:t>
            </a:r>
            <a:r>
              <a:rPr b="0" sz="1500">
                <a:solidFill>
                  <a:srgbClr val="0F172A"/>
                </a:solidFill>
                <a:latin typeface="Arial"/>
              </a:rPr>
              <a:t>inspecter l'incrément avec les parties prenantes et adapter le processus de l'équipe.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4128" y="4261103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"/>
            <a:ext cx="109728" cy="54864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Qualité logicielle, Définition de Terminé et Incrément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463040" cy="914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1078992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263640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27648"/>
            <a:ext cx="7315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Société Générale Côte d'Ivoire  •  T-chIA  •  Gestion de projet scrum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27648"/>
            <a:ext cx="176753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50" b="1">
                <a:solidFill>
                  <a:srgbClr val="0F172A"/>
                </a:solidFill>
                <a:latin typeface="Arial"/>
              </a:defRPr>
            </a:pPr>
            <a:r>
              <a:t>7 /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325880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b="1" sz="1500">
                <a:solidFill>
                  <a:srgbClr val="0F172A"/>
                </a:solidFill>
                <a:latin typeface="Arial"/>
              </a:rPr>
              <a:t>L'Incrément : </a:t>
            </a:r>
            <a:r>
              <a:rPr b="0" sz="1500">
                <a:solidFill>
                  <a:srgbClr val="0F172A"/>
                </a:solidFill>
                <a:latin typeface="Arial"/>
              </a:rPr>
              <a:t>somme de tous les éléments du Product Backlog terminés, utilisable et potentiellement livrable.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1645920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633472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b="1" sz="1500">
                <a:solidFill>
                  <a:srgbClr val="0F172A"/>
                </a:solidFill>
                <a:latin typeface="Arial"/>
              </a:rPr>
              <a:t>Définition de 'Terminé' (DoD) : </a:t>
            </a:r>
            <a:r>
              <a:rPr b="0" sz="1500">
                <a:solidFill>
                  <a:srgbClr val="0F172A"/>
                </a:solidFill>
                <a:latin typeface="Arial"/>
              </a:rPr>
              <a:t>standard commun de qualité pour assurer une transparence totale.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" y="2953512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941063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b="1" sz="1500">
                <a:solidFill>
                  <a:srgbClr val="0F172A"/>
                </a:solidFill>
                <a:latin typeface="Arial"/>
              </a:rPr>
              <a:t>Aucun compromis sur la qualité : </a:t>
            </a:r>
            <a:r>
              <a:rPr b="0" sz="1500">
                <a:solidFill>
                  <a:srgbClr val="0F172A"/>
                </a:solidFill>
                <a:latin typeface="Arial"/>
              </a:rPr>
              <a:t>les objectifs de qualité ne sont jamais revus à la baisse en cours de Sprint.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4128" y="4261103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"/>
            <a:ext cx="109728" cy="54864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Synthèse opérationnelle et plan de transition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463040" cy="914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1078992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263640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27648"/>
            <a:ext cx="7315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Société Générale Côte d'Ivoire  •  T-chIA  •  Gestion de projet scrum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27648"/>
            <a:ext cx="176753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50" b="1">
                <a:solidFill>
                  <a:srgbClr val="0F172A"/>
                </a:solidFill>
                <a:latin typeface="Arial"/>
              </a:defRPr>
            </a:pPr>
            <a:r>
              <a:t>8 /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325880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b="1" sz="1500">
                <a:solidFill>
                  <a:srgbClr val="0F172A"/>
                </a:solidFill>
                <a:latin typeface="Arial"/>
              </a:rPr>
              <a:t>La transition clé : </a:t>
            </a:r>
            <a:r>
              <a:rPr b="0" sz="1500">
                <a:solidFill>
                  <a:srgbClr val="0F172A"/>
                </a:solidFill>
                <a:latin typeface="Arial"/>
              </a:rPr>
              <a:t>faire confiance à l'Équipe de Développement sur le 'Comment' et se concentrer sur le 'Quoi'.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1645920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633472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b="1" sz="1500">
                <a:solidFill>
                  <a:srgbClr val="0F172A"/>
                </a:solidFill>
                <a:latin typeface="Arial"/>
              </a:rPr>
              <a:t>Scrum est indivisible : </a:t>
            </a:r>
            <a:r>
              <a:rPr b="0" sz="1500">
                <a:solidFill>
                  <a:srgbClr val="0F172A"/>
                </a:solidFill>
                <a:latin typeface="Arial"/>
              </a:rPr>
              <a:t>appliquer partiellement ses règles compromet l'agilité globale.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" y="2953512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941063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b="1" sz="1500">
                <a:solidFill>
                  <a:srgbClr val="0F172A"/>
                </a:solidFill>
                <a:latin typeface="Arial"/>
              </a:rPr>
              <a:t>Prochaine étape : </a:t>
            </a:r>
            <a:r>
              <a:rPr b="0" sz="1500">
                <a:solidFill>
                  <a:srgbClr val="0F172A"/>
                </a:solidFill>
                <a:latin typeface="Arial"/>
              </a:rPr>
              <a:t>collaborer avec votre Scrum Master pour installer votre posture de PO au sein de la SGCI.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4128" y="4261103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